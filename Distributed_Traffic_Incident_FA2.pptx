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FORMATIVE ASSESSMENT 2  ·  DISTRIBUTED SYSTEMS  ·  UNIT III &amp; UNIT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Distributed Real-Time Traffic Incident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Detection, Coordination and Response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>
                <a:solidFill>
                  <a:srgbClr val="C9D1DE"/>
                </a:solidFill>
                <a:latin typeface="Calibri"/>
              </a:rPr>
              <a:t>FA-2: synchronization (clocks, logical time, global state, election, mutual exclusion, beacons) and emerging paradigms (objects, web, DFS, serverless, ledger) added to the FA-1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526280"/>
            <a:ext cx="10515600" cy="27432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54864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07A2F"/>
                </a:solidFill>
                <a:latin typeface="Calibri"/>
              </a:rPr>
              <a:t>Presented by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[TEAM MEMBER 1]  -  [ROLL NUMBER]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[TEAM MEMBER 2]  -  [ROLL NUMBER]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709160"/>
            <a:ext cx="50292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07A2F"/>
                </a:solidFill>
                <a:latin typeface="Calibri"/>
              </a:rPr>
              <a:t>College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[COLLEGE NAME]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C9D1DE"/>
                </a:solidFill>
                <a:latin typeface="Calibri"/>
              </a:rPr>
              <a:t>[DEPARTMENT]  ·  [CLASS /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FA-2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From FA-1 to FA-2: Extending, Not Rebuilding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FA-1 gave us three independent regional nodes (Pune, Mumbai, Nashik) that communicate by RPC, messages, streams and P2P. FA-2 adds the algorithms that make such nodes </a:t>
            </a:r>
            <a:r>
              <a:rPr sz="1500" b="1" i="0">
                <a:solidFill>
                  <a:srgbClr val="1F2A44"/>
                </a:solidFill>
                <a:latin typeface="Calibri"/>
              </a:rPr>
              <a:t>agree</a:t>
            </a:r>
            <a:r>
              <a:rPr sz="1500" b="0" i="0">
                <a:solidFill>
                  <a:srgbClr val="1F2A44"/>
                </a:solidFill>
                <a:latin typeface="Calibri"/>
              </a:rPr>
              <a:t> - on time, order, a leader and access to shared resources - and the newer ways of building distributed applications.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5394960" cy="32918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50292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E07A2F"/>
                </a:solidFill>
                <a:latin typeface="Calibri"/>
              </a:rPr>
              <a:t>Unit III — Synchronization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F2A44"/>
                </a:solidFill>
                <a:latin typeface="Calibri"/>
              </a:rPr>
              <a:t>•  Clock synchronization: Cristian (+NTP), Berkeley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F2A44"/>
                </a:solidFill>
                <a:latin typeface="Calibri"/>
              </a:rPr>
              <a:t>•  Logical clocks: Lamport's algorithm, vector clocks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F2A44"/>
                </a:solidFill>
                <a:latin typeface="Calibri"/>
              </a:rPr>
              <a:t>•  Causal ordering of broadcasts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F2A44"/>
                </a:solidFill>
                <a:latin typeface="Calibri"/>
              </a:rPr>
              <a:t>•  Global state: Chandy–Lamport snapshot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F2A44"/>
                </a:solidFill>
                <a:latin typeface="Calibri"/>
              </a:rPr>
              <a:t>•  Election: Bully and Ring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F2A44"/>
                </a:solidFill>
                <a:latin typeface="Calibri"/>
              </a:rPr>
              <a:t>•  Mutual exclusion: Lamport, Ricart–Agrawala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F2A44"/>
                </a:solidFill>
                <a:latin typeface="Calibri"/>
              </a:rPr>
              <a:t>•  Beacon protocol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F2A44"/>
                </a:solidFill>
                <a:latin typeface="Calibri"/>
              </a:rPr>
              <a:t>•  Self-study: Lodha–Kshemkalyani, Knapp's classification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468880"/>
            <a:ext cx="5394960" cy="32918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50292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 i="0">
                <a:solidFill>
                  <a:srgbClr val="E07A2F"/>
                </a:solidFill>
                <a:latin typeface="Calibri"/>
              </a:rPr>
              <a:t>Unit IV — Emerging Paradigms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F2A44"/>
                </a:solidFill>
                <a:latin typeface="Calibri"/>
              </a:rPr>
              <a:t>•  Distributed object-based system (proxy, skeleton, naming)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F2A44"/>
                </a:solidFill>
                <a:latin typeface="Calibri"/>
              </a:rPr>
              <a:t>•  Distributed web-based system (HTTP caching, ETag/304)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F2A44"/>
                </a:solidFill>
                <a:latin typeface="Calibri"/>
              </a:rPr>
              <a:t>•  Distributed file system (chunks, replicas, checksums)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F2A44"/>
                </a:solidFill>
                <a:latin typeface="Calibri"/>
              </a:rPr>
              <a:t>•  Serverless architecture (local FaaS)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F2A44"/>
                </a:solidFill>
                <a:latin typeface="Calibri"/>
              </a:rPr>
              <a:t>•  Self-study: blockchain / distributed ledger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1F2A44"/>
                </a:solidFill>
                <a:latin typeface="Calibri"/>
              </a:rPr>
              <a:t>•  Case studies: Megaport, Cloudflare, AWS, Hadoop, 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1">
                <a:solidFill>
                  <a:srgbClr val="5F6673"/>
                </a:solidFill>
                <a:latin typeface="Calibri"/>
              </a:rPr>
              <a:t>Rule followed: FA-1 code, APIs and UI kept intact - FA-2 is a new package, a second gRPC service and a new dashboard section. FA-1's 40-assertion test still passes.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How FA-2 Plugs Into the FA-1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508760"/>
            <a:ext cx="4389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508760"/>
            <a:ext cx="438912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Dashboard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FA-1 panels + FA-2 section (fa2.js)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0" y="2057400"/>
            <a:ext cx="0" cy="320040"/>
          </a:xfrm>
          <a:prstGeom prst="line">
            <a:avLst/>
          </a:prstGeom>
          <a:ln w="19050">
            <a:solidFill>
              <a:srgbClr val="5F6673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97280" y="2377440"/>
            <a:ext cx="5486400" cy="822960"/>
          </a:xfrm>
          <a:prstGeom prst="rect">
            <a:avLst/>
          </a:prstGeom>
          <a:solidFill>
            <a:srgbClr val="F2F3F5"/>
          </a:solidFill>
          <a:ln w="127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54864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Gateway (FastAPI)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FA-1 coordinator · FA-2: /api/fa2, DFS master, naming, FaaS, ledger service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508760" y="3200400"/>
            <a:ext cx="2331720" cy="640080"/>
          </a:xfrm>
          <a:prstGeom prst="line">
            <a:avLst/>
          </a:prstGeom>
          <a:ln w="19050">
            <a:solidFill>
              <a:srgbClr val="5F66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" y="3840480"/>
            <a:ext cx="1920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1920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Calibri"/>
              </a:rPr>
              <a:t>Pune Node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F6673"/>
                </a:solidFill>
                <a:latin typeface="Calibri"/>
              </a:rPr>
              <a:t>TrafficNode + SyncNode :5001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1920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1F2A44"/>
                </a:solidFill>
                <a:latin typeface="Calibri"/>
              </a:rPr>
              <a:t>FA-2 runtime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F6673"/>
                </a:solidFill>
                <a:latin typeface="Calibri"/>
              </a:rPr>
              <a:t>clocks · inbox · algorithms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F6673"/>
                </a:solidFill>
                <a:latin typeface="Calibri"/>
              </a:rPr>
              <a:t>*.db + *_ledger.db + dfs/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0" y="3200400"/>
            <a:ext cx="0" cy="640080"/>
          </a:xfrm>
          <a:prstGeom prst="line">
            <a:avLst/>
          </a:prstGeom>
          <a:ln w="19050">
            <a:solidFill>
              <a:srgbClr val="5F66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880360" y="3840480"/>
            <a:ext cx="1920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3840480"/>
            <a:ext cx="1920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Calibri"/>
              </a:rPr>
              <a:t>Mumbai Node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F6673"/>
                </a:solidFill>
                <a:latin typeface="Calibri"/>
              </a:rPr>
              <a:t>TrafficNode + SyncNode :5002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663440"/>
            <a:ext cx="1920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1F2A44"/>
                </a:solidFill>
                <a:latin typeface="Calibri"/>
              </a:rPr>
              <a:t>FA-2 runtime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F6673"/>
                </a:solidFill>
                <a:latin typeface="Calibri"/>
              </a:rPr>
              <a:t>clocks · inbox · algorithms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F6673"/>
                </a:solidFill>
                <a:latin typeface="Calibri"/>
              </a:rPr>
              <a:t>*.db + *_ledger.db + dfs/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0" y="3200400"/>
            <a:ext cx="2331720" cy="640080"/>
          </a:xfrm>
          <a:prstGeom prst="line">
            <a:avLst/>
          </a:prstGeom>
          <a:ln w="19050">
            <a:solidFill>
              <a:srgbClr val="5F66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212080" y="3840480"/>
            <a:ext cx="1920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3840480"/>
            <a:ext cx="19202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Calibri"/>
              </a:rPr>
              <a:t>Nashik Node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F6673"/>
                </a:solidFill>
                <a:latin typeface="Calibri"/>
              </a:rPr>
              <a:t>TrafficNode + SyncNode :5003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663440"/>
            <a:ext cx="1920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1F2A44"/>
                </a:solidFill>
                <a:latin typeface="Calibri"/>
              </a:rPr>
              <a:t>FA-2 runtime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F6673"/>
                </a:solidFill>
                <a:latin typeface="Calibri"/>
              </a:rPr>
              <a:t>clocks · inbox · algorithms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F6673"/>
                </a:solidFill>
                <a:latin typeface="Calibri"/>
              </a:rPr>
              <a:t>*.db + *_ledger.db + dfs/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68880" y="4206240"/>
            <a:ext cx="411480" cy="0"/>
          </a:xfrm>
          <a:prstGeom prst="line">
            <a:avLst/>
          </a:prstGeom>
          <a:ln w="19050">
            <a:solidFill>
              <a:srgbClr val="E07A2F"/>
            </a:solidFill>
            <a:prstDash val="dash"/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00600" y="4206240"/>
            <a:ext cx="411480" cy="0"/>
          </a:xfrm>
          <a:prstGeom prst="line">
            <a:avLst/>
          </a:prstGeom>
          <a:ln w="19050">
            <a:solidFill>
              <a:srgbClr val="E07A2F"/>
            </a:solidFill>
            <a:prstDash val="dash"/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5577840"/>
            <a:ext cx="65836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5F6673"/>
                </a:solidFill>
                <a:latin typeface="Calibri"/>
              </a:rPr>
              <a:t>Orange: SyncNode.Deliver - FIFO channels between all pairs of nodes; every message carries the sender's Lamport and vector clock.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1508760"/>
            <a:ext cx="44805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Second gRPC service, same port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proto/fa2_sync.proto: Deliver, GetTime, Command, Invoke, StoreChunk, ReadChunk. FA-1's traffic.proto is unchanged.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313432"/>
            <a:ext cx="44805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Message-passing algorithms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Each algorithm is written as 'on receiving X do ...' handlers that run one at a time (atomic).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118104"/>
            <a:ext cx="44805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FIFO channels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One send queue per peer keeps send order - needed by Lamport ME, Lodha–Kshemkalyani and Chandy–Lamport.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922776"/>
            <a:ext cx="44805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Same failure model as FA-1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'Fail Node' makes a node refuse every FA-2 RPC too - peers see a crash.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727448"/>
            <a:ext cx="44805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Gateway triggers, nodes decide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The dashboard starts an election or a CS request; the nodes exchange the messages.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532120"/>
            <a:ext cx="44805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Integration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Every FA-1 incident create/update is timestamped and causally broadcast; FA-2 events appear in the FA-1 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UNIT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Clock Synchronization: Cristian and Berkeley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669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6673"/>
                </a:solidFill>
                <a:latin typeface="Calibri"/>
              </a:rPr>
              <a:t>There is no global clock: each node's clock has an offset and drifts. Each node runs a software clock with a deliberate offset and drift (simulated - one laptop has one OS clock); the algorithms that correct it are real.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8716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8716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50592"/>
            <a:ext cx="5166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Cristian's algorithm (external)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Ask the time server (gateway = reference clock): new time = t3 + RTT/2. Four samples, the smallest RTT is used. NTP offset θ and delay δ are computed from the same four timestamps.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3016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3016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93592"/>
            <a:ext cx="5166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Berkeley algorithm (internal)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The elected leader is the time daemon: polls every clock (GetTime), removes outliers, averages, and sends each node its own adjustment (CLOCK_ADJUST).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46320"/>
            <a:ext cx="5669280" cy="13716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53949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E07A2F"/>
                </a:solidFill>
                <a:latin typeface="Calibri"/>
              </a:rPr>
              <a:t>Measured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Cristian: clock errors of 0.8-2.1 s reduced to &lt; 1 ms (first sample: ~265 ms RTT of connection set-up - discarded).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Berkeley: spread between the three clocks 2.1 s → about 1 ms.</a:t>
            </a:r>
          </a:p>
        </p:txBody>
      </p:sp>
      <p:pic>
        <p:nvPicPr>
          <p:cNvPr id="15" name="Picture 14" descr="02a_clocks_skew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902" y="1463040"/>
            <a:ext cx="4058756" cy="2194560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492240" y="3703320"/>
            <a:ext cx="5212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Before: skewed node clocks</a:t>
            </a:r>
          </a:p>
        </p:txBody>
      </p:sp>
      <p:pic>
        <p:nvPicPr>
          <p:cNvPr id="17" name="Picture 16" descr="02c_berkel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848" y="3977639"/>
            <a:ext cx="4138863" cy="2286000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492240" y="6309359"/>
            <a:ext cx="5212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After a Berkeley round led by the leader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UNIT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Logical Clocks: Lamport, Vector and Causal Ordering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12064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Lamport's algorithm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L = L + 1 before every event;  on receive L = max(L, L_msg) + 1.  a → b ⇒ L(a) &lt; L(b).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Vector algorithm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V[i] += 1 per event;  on receive V = max(V, V_msg), V[i] += 1.  a → b ⇔ V(a) &lt; V(b); incomparable = concurrent.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Causal broadcast (Birman–Schiper–Stephenson)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Deliver a message from j only if it is j's next one and everything j had seen is already delivered; otherwise buffer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484632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Applied in our project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Every FA-2 message carries both clocks; the gateway merges the three event logs and checks every send/receive pair: 0 Lamport and 0 vector violations, while the skewed physical times put the receive before the send in many pairs.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Demo: Pune→Nashik slowed 3 s; Nashik receives Mumbai's ACK first, buffers it, delivers ALERT then ACK.</a:t>
            </a:r>
          </a:p>
        </p:txBody>
      </p:sp>
      <p:pic>
        <p:nvPicPr>
          <p:cNvPr id="9" name="Picture 8" descr="04_logical_cau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63040"/>
            <a:ext cx="5852160" cy="2292656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897880" y="3801416"/>
            <a:ext cx="5852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Real event log ordered by (Lamport, node) · Nashik receive vs delivery 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UNIT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Global State: Chandy–Lamport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6673"/>
                </a:solidFill>
                <a:latin typeface="Calibri"/>
              </a:rPr>
              <a:t>A global state = the local state of every node + the messages still travelling in the channels. It must be a consistent cut: no message received in the cut without its send also being in the cut.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8716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8716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50592"/>
            <a:ext cx="49834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Initiator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records its state, sends MARKER on every channel, starts recording incoming channels.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82112"/>
            <a:ext cx="49834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First MARKER at a node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record own state, that channel is empty, forward MARKERs, record the other channels.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5020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5020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13632"/>
            <a:ext cx="49834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Later MARKER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stop recording that channel - what was recorded is 'in transit'.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645152"/>
            <a:ext cx="49834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FIFO channels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guarantee a marker separates messages sent before / after the cut.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486400"/>
            <a:ext cx="5486400" cy="82296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521208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Application: </a:t>
            </a:r>
            <a:r>
              <a:rPr sz="1200" b="0" i="0">
                <a:solidFill>
                  <a:srgbClr val="1F2A44"/>
                </a:solidFill>
                <a:latin typeface="Calibri"/>
              </a:rPr>
              <a:t>30 standby patrol vehicles are lent between regions (0.2-1.2 s in transit). Snapshot: local + in transit = 30 every time; a naive reading of the three counters does not add up.</a:t>
            </a:r>
          </a:p>
        </p:txBody>
      </p:sp>
      <p:pic>
        <p:nvPicPr>
          <p:cNvPr id="21" name="Picture 20" descr="08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94960" cy="3664599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6309360" y="5173359"/>
            <a:ext cx="5394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Snapshot recorded by the Nashik leader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UNIT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Election Algorithms and the Beacon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Bully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Priority Pune 1 &lt; Mumbai 2 &lt; Nashik 3. ELECTION to higher nodes; OK stops lower ones; the highest live node sends COORDINATOR. Timeouts detect dead nodes.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Ring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RING_ELECTION collects live ids around Pune→Mumbai→Nashik (dead successor skipped), then RING_COORDINATOR circulates once: 2n = 6 messages.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Beacon protocol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Every node sends a timestamped beacon to every peer each second: liveness (no beacon for 3.5 s → SUSPECTED) and clock-offset estimates (sender→receiver and reference-broadcast).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43400"/>
            <a:ext cx="5486400" cy="19202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52120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Demo with FA-1's Fail button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1. Fail Nashik (the leader) → Pune and Mumbai stop hearing its beacons → SUSPECTED.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2. Suspected leader triggers Bully → Mumbai becomes coordinator (Berkeley daemon, ledger proposer).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1F2A44"/>
                </a:solidFill>
                <a:latin typeface="Calibri"/>
              </a:rPr>
              <a:t>3. Recover Nashik → it starts an election and bullies its way back.</a:t>
            </a:r>
          </a:p>
        </p:txBody>
      </p:sp>
      <p:pic>
        <p:nvPicPr>
          <p:cNvPr id="9" name="Picture 8" descr="06c_leader_failed_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670" y="1463040"/>
            <a:ext cx="4442340" cy="3017520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309360" y="4526280"/>
            <a:ext cx="5394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Bully triggered by missing beacons → Mumbai elected</a:t>
            </a:r>
          </a:p>
        </p:txBody>
      </p:sp>
      <p:pic>
        <p:nvPicPr>
          <p:cNvPr id="11" name="Picture 10" descr="06b_leader_failed_beac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187" y="4800600"/>
            <a:ext cx="2765306" cy="1463040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309360" y="6309360"/>
            <a:ext cx="5394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Beacon table: Nashik SUSPECTED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UNIT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Distributed Mutual Exclusion on a Shared Resource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Shared resource: </a:t>
            </a:r>
            <a:r>
              <a:rPr sz="1300" b="0" i="0">
                <a:solidFill>
                  <a:srgbClr val="1F2A44"/>
                </a:solidFill>
                <a:latin typeface="Calibri"/>
              </a:rPr>
              <a:t>the regional air-ambulance register, a file in our DFS. The critical section reads it, works 0.6 s, appends a line and writes it back - if two nodes overlap, an update is lost.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60350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737360"/>
                <a:gridCol w="118872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Messages / CS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Measured (3 concurrent)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Lost updates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44"/>
                          </a:solidFill>
                          <a:latin typeface="Calibri"/>
                        </a:rPr>
                        <a:t>Lamport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F6673"/>
                          </a:solidFill>
                          <a:latin typeface="Calibri"/>
                        </a:rPr>
                        <a:t>3(N-1)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F667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F667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44"/>
                          </a:solidFill>
                          <a:latin typeface="Calibri"/>
                        </a:rPr>
                        <a:t>Ricart–Agrawala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F6673"/>
                          </a:solidFill>
                          <a:latin typeface="Calibri"/>
                        </a:rPr>
                        <a:t>2(N-1)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F667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F667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44"/>
                          </a:solidFill>
                          <a:latin typeface="Calibri"/>
                        </a:rPr>
                        <a:t>Lodha–Kshemkalyani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F6673"/>
                          </a:solidFill>
                          <a:latin typeface="Calibri"/>
                        </a:rPr>
                        <a:t>N-1 … 2(N-1)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F667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F667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44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F667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F667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F6673"/>
                          </a:solidFill>
                          <a:latin typeface="Calibri"/>
                        </a:rPr>
                        <a:t>2  (overlap!)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2286000"/>
            <a:ext cx="484632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•  Lamport: request queue + REPLY + RELEASE; enter when own request is first and a later-stamped message came from everyone.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•  Ricart–Agrawala: reply at once unless own request has priority - then defer the reply until exit.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•  All three grant the CS in timestamp order (fair); the 'None' run proves why an algorithm is needed.</a:t>
            </a:r>
          </a:p>
        </p:txBody>
      </p:sp>
      <p:pic>
        <p:nvPicPr>
          <p:cNvPr id="9" name="Picture 8" descr="07b_mutex_compare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636" y="4343400"/>
            <a:ext cx="6174247" cy="1783080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Runs table + timeline of the unsafe 'None'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SELF-STUDY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Lodha &amp; Kshemkalyani's Fair Mutual Exclusion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1">
                <a:solidFill>
                  <a:srgbClr val="5F6673"/>
                </a:solidFill>
                <a:latin typeface="Calibri"/>
              </a:rPr>
              <a:t>IEEE TPDS 11(6), 2000 - implemented exactly as Fig. 2 of the paper (backend/fa2/mutex.py, class LodhaKshemkalyani).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8424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842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47672"/>
            <a:ext cx="60807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Request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SN = highest seen + 1; LRQ = [own request]; REQUEST to all; RV = 0 except own.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7004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33472"/>
            <a:ext cx="60807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On REQUEST (while requesting)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RV[j] = 0 → concurrent: insert in LRQ, RV[j] = 1 - the request itself is the reply. RV[j] = 1 → defer.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35584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19272"/>
            <a:ext cx="60807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On REQUEST (not requesting)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send REPLY(last satisfied request).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416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05072"/>
            <a:ext cx="60807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On REPLY / FLUSH(Rj)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RV[j] = 1; remove every LRQ entry with priority ≥ Rj (a collective reply).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690872"/>
            <a:ext cx="60807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Enter CS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all RV = 1 and own request at the head of LRQ.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41324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132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376672"/>
            <a:ext cx="60807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Exit CS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F6673"/>
                </a:solidFill>
                <a:latin typeface="Calibri"/>
              </a:rPr>
              <a:t>one FLUSH to the next request in LRQ + REPLY to deferred requests.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1965960"/>
            <a:ext cx="4206240" cy="425196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2057400"/>
            <a:ext cx="393192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E07A2F"/>
                </a:solidFill>
                <a:latin typeface="Calibri"/>
              </a:rPr>
              <a:t>Messages per CS (paper §4.1)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1F2A44"/>
                </a:solidFill>
                <a:latin typeface="Calibri"/>
              </a:rPr>
              <a:t>2N − |CSet|  if a lower-priority concurrent request exists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1F2A44"/>
                </a:solidFill>
                <a:latin typeface="Calibri"/>
              </a:rPr>
              <a:t>2N − 1 − |CSet|  otherwise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1F2A44"/>
                </a:solidFill>
                <a:latin typeface="Calibri"/>
              </a:rPr>
              <a:t>2(N − 1)  when requests are serialised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E07A2F"/>
                </a:solidFill>
                <a:latin typeface="Calibri"/>
              </a:rPr>
              <a:t>Our run, N = 3, all concurrent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1F2A44"/>
                </a:solidFill>
                <a:latin typeface="Calibri"/>
              </a:rPr>
              <a:t>3 + 3 + 2 = 8 messages (6 REQUEST + 2 FLUSH)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1F2A44"/>
                </a:solidFill>
                <a:latin typeface="Calibri"/>
              </a:rPr>
              <a:t>vs 12 for Ricart–Agrawala, 18 for Lamport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E07A2F"/>
                </a:solidFill>
                <a:latin typeface="Calibri"/>
              </a:rPr>
              <a:t>Assumptions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1F2A44"/>
                </a:solidFill>
                <a:latin typeface="Calibri"/>
              </a:rPr>
              <a:t>FIFO channels, no crashes - our demo refuses to run with a node offline.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SELF-STUDY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Knapp's Classification of Distributed Deadlock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040880"/>
                <a:gridCol w="1828800"/>
              </a:tblGrid>
              <a:tr h="411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Idea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In our project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Path-pushing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sites forward wait-for paths until a cycle is visible (Obermarck)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documented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Edge-chasing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a probe follows wait-for edges; back at the initiator = deadlock (Chandy–Misra–Haas)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Diffusing computation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query/reply diffusion over the graph, OR model (CMH)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documented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Global state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consistent snapshot of all wait-for edges, then search a cycle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implemented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40480"/>
            <a:ext cx="493776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E07A2F"/>
                </a:solidFill>
                <a:latin typeface="Calibri"/>
              </a:rPr>
              <a:t>Demo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Each node locks its own unit, then requests the next region's: Pune → Mumbai → Nashik → Pune. No single node can see the cycle. A probe from Mumbai returns (MUM → NSK → PUNE → MUM); the snapshot method finds the same cycle; aborting the victim (Pune) breaks it. The lock table is FA-2 only - FA-1 unit data is untouched.</a:t>
            </a:r>
          </a:p>
        </p:txBody>
      </p:sp>
      <p:pic>
        <p:nvPicPr>
          <p:cNvPr id="8" name="Picture 7" descr="09a_deadlock_det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794760"/>
            <a:ext cx="6035040" cy="2234236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69280" y="6074716"/>
            <a:ext cx="6035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Real wait-for graph and probe trace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UNIT 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Distributed Objects  ·  Distributed Web-Based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Distributed Object-Based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Objects live on one node and are invoked remotely through an object reference, as in Java RMI / CORBA.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5486400" cy="173736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42032"/>
            <a:ext cx="521208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Applied in our project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Reference fa2obj://node/interface/id; naming service in the gateway.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Proxy marshals the call → Invoke RPC → skeleton → TrafficSignal / ResponseUnit servant.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sync_with(ref): a remote reference passed as a parameter; the hosting node calls the other object.</a:t>
            </a:r>
          </a:p>
        </p:txBody>
      </p:sp>
      <p:pic>
        <p:nvPicPr>
          <p:cNvPr id="10" name="Picture 9" descr="10_ob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797" y="4389120"/>
            <a:ext cx="2706086" cy="1783080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309360" y="146304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Distributed Web-Based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539496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Browser ↔ HTTP/REST + WebSocket ↔ web/app server ↔ back-end services. Caches use validators.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514600"/>
            <a:ext cx="5394960" cy="173736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542032"/>
            <a:ext cx="512064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Applied in our project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The dashboard itself is the web client of a multi-tier distributed system.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GET /api/fa2/web/feed returns ETag + Cache-Control: max-age=5.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Revalidation with If-None-Match → 304 Not Modified, empty body (bytes saved).</a:t>
            </a:r>
          </a:p>
        </p:txBody>
      </p:sp>
      <p:pic>
        <p:nvPicPr>
          <p:cNvPr id="15" name="Picture 14" descr="14_web_cac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156" y="4389120"/>
            <a:ext cx="4289367" cy="1783079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UNIT 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Distributed File System  ·  Serverless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Distributed File System (HDFS / GFS style)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A master keeps metadata; chunk servers keep replicated chunks with checksums.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5486400" cy="173736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42032"/>
            <a:ext cx="521208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Applied in our project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Gateway = master: path → chunks → replica nodes. Nodes store 256 B chunks + SHA-256.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2 replicas, least-loaded placement; a read skips offline or corrupted replicas.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Repair re-replicates (also automatically after a node recovers).</a:t>
            </a:r>
          </a:p>
        </p:txBody>
      </p:sp>
      <p:pic>
        <p:nvPicPr>
          <p:cNvPr id="10" name="Picture 9" descr="11_dfs_fail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477" y="4389120"/>
            <a:ext cx="1858725" cy="1783080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Corrupted replica skipped - chunk served by another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46304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Serverless (Function-as-a-Service)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539496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Developers deploy stateless functions; the platform creates, reuses and destroys instances on demand.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514600"/>
            <a:ext cx="5394960" cy="173736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542032"/>
            <a:ext cx="512064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Applied in our project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Local FaaS emulation: each instance is a separate process.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Cold start (new process, ~80-100 ms) vs warm start (same PID, &lt; 1 ms); idle 60 s → scale to zero.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F2A44"/>
                </a:solidFill>
                <a:latin typeface="Calibri"/>
              </a:rPr>
              <a:t>Triggers: INCIDENT_CREATED → classify_incident; RESOLVED → incident_report → stored in the DFS.</a:t>
            </a:r>
          </a:p>
        </p:txBody>
      </p:sp>
      <p:pic>
        <p:nvPicPr>
          <p:cNvPr id="16" name="Picture 15" descr="12_fa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491" y="4389120"/>
            <a:ext cx="2754698" cy="1783080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309360" y="6217920"/>
            <a:ext cx="5394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Cold and warm invocations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SELF-STUDY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Blockchain / Distributed Ledger: Append-Only Audit Ledger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2704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0472"/>
            <a:ext cx="5166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Hash chain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block = index, time, proposer, previous hash, nonce, events; hash = SHA-256 of all of them.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0428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0428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67712"/>
            <a:ext cx="5166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Toy proof-of-work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the proposer searches a nonce so the hash starts with 000 (illustrates mining).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8152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44952"/>
            <a:ext cx="5166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Leader ordering, majority commit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the elected leader proposes; committed when 2 of 3 replicas stored it.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85876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5876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22192"/>
            <a:ext cx="5166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Replication &amp; catch-up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each node has its own SQLite replica; a node that was down fetches missing blocks.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63600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3600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599432"/>
            <a:ext cx="5166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Tamper evidence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editing an old block breaks its hash link - detected, then repaired from a valid peer.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41324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4132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376672"/>
            <a:ext cx="5166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Honest limits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6673"/>
                </a:solidFill>
                <a:latin typeface="Calibri"/>
              </a:rPr>
              <a:t>crash-fault tolerant like a permissioned ledger - not Byzantine-fault tolerant.</a:t>
            </a:r>
          </a:p>
        </p:txBody>
      </p:sp>
      <p:pic>
        <p:nvPicPr>
          <p:cNvPr id="24" name="Picture 23" descr="13a_ledger_tamp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748" y="1463040"/>
            <a:ext cx="4803063" cy="3108960"/>
          </a:xfrm>
          <a:prstGeom prst="rect">
            <a:avLst/>
          </a:prstGeom>
          <a:ln w="9525">
            <a:solidFill>
              <a:srgbClr val="D0D4DA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6492240" y="4617720"/>
            <a:ext cx="5212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Nashik replica tampered → broken at block 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937760"/>
            <a:ext cx="52120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Recorded events: </a:t>
            </a:r>
            <a:r>
              <a:rPr sz="1200" b="0" i="0">
                <a:solidFill>
                  <a:srgbClr val="1F2A44"/>
                </a:solidFill>
                <a:latin typeface="Calibri"/>
              </a:rPr>
              <a:t>incidents, node failures/recoveries, leader elections, CS entries, deadlocks, clock syncs, DFS writes - batched into a block every 4 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UNIT 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Industry Case Studies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4206240"/>
                <a:gridCol w="3383280"/>
              </a:tblGrid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distributed-systems ideas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Same idea in our project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Megaport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673"/>
                          </a:solidFill>
                          <a:latin typeface="Calibri"/>
                        </a:rPr>
                        <a:t>Network-as-a-Service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673"/>
                          </a:solidFill>
                          <a:latin typeface="Calibri"/>
                        </a:rPr>
                        <a:t>Private software-defined backbone; Virtual Cross Connects on demand; Megaport Cloud Router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673"/>
                          </a:solidFill>
                          <a:latin typeface="Calibri"/>
                        </a:rPr>
                        <a:t>Node↔node P2P links as a private regional interconnect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Cloudflare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673"/>
                          </a:solidFill>
                          <a:latin typeface="Calibri"/>
                        </a:rPr>
                        <a:t>Global anycast edge network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673"/>
                          </a:solidFill>
                          <a:latin typeface="Calibri"/>
                        </a:rPr>
                        <a:t>Nearest-edge routing, edge caching, Workers (V8 isolates), Durable Objects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673"/>
                          </a:solidFill>
                          <a:latin typeface="Calibri"/>
                        </a:rPr>
                        <a:t>ETag/304 caching, FaaS runtime, single-host remote objects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AWS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673"/>
                          </a:solidFill>
                          <a:latin typeface="Calibri"/>
                        </a:rPr>
                        <a:t>Public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673"/>
                          </a:solidFill>
                          <a:latin typeface="Calibri"/>
                        </a:rPr>
                        <a:t>Regions + Availability Zones, replicated S3/DynamoDB, Lambda; Dynamo paper: consistent hashing, vector clocks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673"/>
                          </a:solidFill>
                          <a:latin typeface="Calibri"/>
                        </a:rPr>
                        <a:t>Vector clocks, replicated DFS, majority-commit ledger, FaaS metering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Apache Hadoop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673"/>
                          </a:solidFill>
                          <a:latin typeface="Calibri"/>
                        </a:rPr>
                        <a:t>Big-data storage &amp; processing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673"/>
                          </a:solidFill>
                          <a:latin typeface="Calibri"/>
                        </a:rPr>
                        <a:t>HDFS NameNode + DataNodes, 3× block replication, checksums; MapReduce / YARN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673"/>
                          </a:solidFill>
                          <a:latin typeface="Calibri"/>
                        </a:rPr>
                        <a:t>DFS master = NameNode, nodes = DataNodes, re-replication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Kubernetes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673"/>
                          </a:solidFill>
                          <a:latin typeface="Calibri"/>
                        </a:rPr>
                        <a:t>Container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673"/>
                          </a:solidFill>
                          <a:latin typeface="Calibri"/>
                        </a:rPr>
                        <a:t>etcd (Raft) state store, reconciliation controllers, leader election,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673"/>
                          </a:solidFill>
                          <a:latin typeface="Calibri"/>
                        </a:rPr>
                        <a:t>Bully/Ring election, beacon health checks, names vs addresses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1">
                <a:solidFill>
                  <a:srgbClr val="5F6673"/>
                </a:solidFill>
                <a:latin typeface="Calibri"/>
              </a:rPr>
              <a:t>Case studies are documented only - no cloud infrastructure was added to the project.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Testing, Results and What Is Simulated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54864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FA-1 regression (tools/test_system.py)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40 / 40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FA-2 end-to-end (tools/test_fa2.py)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69 / 69 passed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Lamport / vector clock violations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Snapshot invariant (30 vehicles)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holds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Mutex lost updates with LK / RA / Lamport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Leader failure → re-election → recovery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Dashboard click-through (headless Chromium)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0 console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463040"/>
          <a:ext cx="53949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651760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Simulated / injected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Messages between 3 OS processes over gRPC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Clock offset and drift per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Lamport/vector clocks, markers, probes, timeouts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Channel delays in two demos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DFS files, checksums, replicas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Node failure = refuse-all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FaaS processes, cold/warm starts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Patrol vehicles, FA-2 lock table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Ledger hashes, replication, tamper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F6673"/>
                          </a:solidFill>
                          <a:latin typeface="Calibri"/>
                        </a:rPr>
                        <a:t>Case studies (documentation)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07A2F"/>
                </a:solidFill>
                <a:latin typeface="Calibri"/>
              </a:rPr>
              <a:t>Note: </a:t>
            </a:r>
            <a:r>
              <a:rPr sz="1200" b="0" i="0">
                <a:solidFill>
                  <a:srgbClr val="5F6673"/>
                </a:solidFill>
                <a:latin typeface="Calibri"/>
              </a:rPr>
              <a:t>one FA-1 check ('traffic density changes over time') is timing-dependent in the original FA-1 code as well (3 s sensor tick vs 2 s heartbeat vs 3.5 s wait) - measured on the unmodified code and documented, not weakened.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E07A2F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Limitations and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6673"/>
                </a:solidFill>
                <a:latin typeface="Calibri"/>
              </a:rPr>
              <a:t>16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6420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27632"/>
            <a:ext cx="46177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Reliable-process assumption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Mutual exclusion and snapshot need all nodes up (demo refuses with a node down).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166420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6420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627632"/>
            <a:ext cx="46177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Gateway as single point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DFS master and ledger service live in the gateway, like an HDFS NameNode without HA.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99008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008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53512"/>
            <a:ext cx="46177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Clock steps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Clocks are stepped, not slewed; skew is simulated on one host.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2990088"/>
            <a:ext cx="384048" cy="384048"/>
          </a:xfrm>
          <a:prstGeom prst="ellipse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99008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953512"/>
            <a:ext cx="46177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No Byzantine tolerance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5F6673"/>
                </a:solidFill>
                <a:latin typeface="Calibri"/>
              </a:rPr>
              <a:t>The ledger tolerates crashes, not malicious nodes.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43400"/>
            <a:ext cx="11064240" cy="82296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1069848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1F2A44"/>
                </a:solidFill>
                <a:latin typeface="Calibri"/>
              </a:rPr>
              <a:t>The same three traffic nodes now synchronise clocks, order events, elect a leader, share a resource safely, detect deadlocks, store replicated files, run serverless functions and keep a tamper-evident audit trail.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49240"/>
            <a:ext cx="11064240" cy="10058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110642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