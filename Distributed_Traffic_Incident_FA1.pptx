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FORMATIVE ASSESSMENT 1  · 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Distributed Real-Time Traffic Incident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Detection, Coordination and Response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C9D1DE"/>
                </a:solidFill>
                <a:latin typeface="Calibri"/>
              </a:rPr>
              <a:t>A Distributed Systems approach to real-time traffic incident communication and emergency response coordination.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10515600" cy="2743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Presented by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[TEAM MEMBER 1]  -  [ROLL NUMBER]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[TEAM MEMBER 2]  -  [ROLL NUMBER]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70916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College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[COLLEGE NAME]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9D1DE"/>
                </a:solidFill>
                <a:latin typeface="Calibri"/>
              </a:rPr>
              <a:t>[DEPARTMENT]  ·  [CLASS /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Traffic Incidents Need Faster Distributed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5836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Accidents, road blockages and signal failures happen without warning. Each traffic control point keeps its own information, so a neighbouring region often learns about an incident late, response units are arranged by phone calls, and when one control point goes down the others lose visibility along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Proposed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65836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5F6673"/>
                </a:solidFill>
                <a:latin typeface="Calibri"/>
              </a:rPr>
              <a:t>A network of independent regional traffic nodes (Pune, Mumbai, Nashik) that each own their incident data and talk to each other through RPC, asynchronous messages, live streams and direct peer-to-peer calls - so incidents are detected, shared and answered in real time, even when a node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4023360" cy="12344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64592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E07A2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64208"/>
            <a:ext cx="3383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Isolated Control Points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Incident and unit data of one region is not visible to the next region.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017520"/>
            <a:ext cx="4023360" cy="12344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E07A2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27248"/>
            <a:ext cx="3383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Slow Response Coordination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Borrowing an ambulance or patrol unit from a neighbour is a manual process.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480560"/>
            <a:ext cx="4023360" cy="12344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57200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E07A2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590288"/>
            <a:ext cx="3383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Single Point of Failure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If one control point is down, nobody else can record or serve its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Why This Problem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470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Time-Critical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6673"/>
                </a:solidFill>
                <a:latin typeface="Calibri"/>
              </a:rPr>
              <a:t>Traffic incidents need a quick response; minutes spent finding a free unit matter.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8470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1051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Distributed Information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6673"/>
                </a:solidFill>
                <a:latin typeface="Calibri"/>
              </a:rPr>
              <a:t>Pune, Mumbai and Nashik each maintain their own local incident and unit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416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0507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Node Failure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6673"/>
                </a:solidFill>
                <a:latin typeface="Calibri"/>
              </a:rPr>
              <a:t>One unavailable traffic node should not stop the whole network.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0416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416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00507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Regional Coordination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6673"/>
                </a:solidFill>
                <a:latin typeface="Calibri"/>
              </a:rPr>
              <a:t>Nearby traffic nodes should be able to cooperate and share response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What the Project Sets Out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9164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Detect and report traffic incidents in real time.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9164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Enable communication between geographically distributed traffic nodes.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Coordinate response resources across nodes.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5468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Demonstrate RPC and message-oriented communication.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1772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Demonstrate stream-oriented and P2P communication.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663440"/>
            <a:ext cx="384048" cy="384048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61772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Build a foundation for advanced FA-2 distributed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Definition, Goals &amp; Types of Distributed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Definition:  </a:t>
            </a:r>
            <a:r>
              <a:rPr sz="1500" b="0" i="0">
                <a:solidFill>
                  <a:srgbClr val="1F2A44"/>
                </a:solidFill>
                <a:latin typeface="Calibri"/>
              </a:rPr>
              <a:t>A distributed system consists of independent computing nodes that communicate over a network and cooperate to provide a unified service. Here, three traffic nodes run as separate processes with separate databases, and the dashboard sees one coordinated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Goals: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✓ Resource Sharing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One region's response units can be reserved by another region (Pune uses Mumbai's MT-03).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288036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✓ Transparency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The operator reports an incident; which node stores it and lends units stays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8" y="288036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✓ Scalability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A new region is one more node process and one registry entry.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✓ Openness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Every node follows the same gRPC contract (traffic.proto) and message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402336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✓ Fault Handling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Failed nodes are detected by heartbeats and requests are redirected.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7899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Types of DS applied:  </a:t>
            </a:r>
            <a:r>
              <a:rPr sz="1400" b="0" i="0">
                <a:solidFill>
                  <a:srgbClr val="1F2A44"/>
                </a:solidFill>
                <a:latin typeface="Calibri"/>
              </a:rPr>
              <a:t>a Distributed Information System (incident, unit and traffic records owned by each regional node) with Distributed Real-Time / Pervasive characteristics (traffic density streamed every few seconds, nodes leaving and rejoining the network).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55448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4389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Traffic Control Dashboard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browser - HTML / CSS / JS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103120"/>
            <a:ext cx="0" cy="365760"/>
          </a:xfrm>
          <a:prstGeom prst="line">
            <a:avLst/>
          </a:prstGeom>
          <a:ln w="19050">
            <a:solidFill>
              <a:srgbClr val="5F6673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31920" y="2121408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REST +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468880"/>
            <a:ext cx="4389120" cy="640080"/>
          </a:xfrm>
          <a:prstGeom prst="rect">
            <a:avLst/>
          </a:prstGeom>
          <a:solidFill>
            <a:srgbClr val="F2F3F5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43891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Coordination Middleware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gateway - FastAPI, message broker, failure detector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508760" y="3108960"/>
            <a:ext cx="2331720" cy="640079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3749039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9202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Pune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gRPC server :5001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" y="4389120"/>
            <a:ext cx="0" cy="502920"/>
          </a:xfrm>
          <a:prstGeom prst="line">
            <a:avLst/>
          </a:prstGeom>
          <a:ln w="19050">
            <a:solidFill>
              <a:srgbClr val="5F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n 15"/>
          <p:cNvSpPr/>
          <p:nvPr/>
        </p:nvSpPr>
        <p:spPr>
          <a:xfrm>
            <a:off x="1097280" y="4892040"/>
            <a:ext cx="822960" cy="640080"/>
          </a:xfrm>
          <a:prstGeom prst="can">
            <a:avLst/>
          </a:prstGeom>
          <a:solidFill>
            <a:srgbClr val="F2F3F5"/>
          </a:solidFill>
          <a:ln>
            <a:solidFill>
              <a:srgbClr val="5F6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pune.db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3108960"/>
            <a:ext cx="0" cy="640079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880360" y="3749039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749039"/>
            <a:ext cx="19202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Mumbai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gRPC server :5002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4389120"/>
            <a:ext cx="0" cy="502920"/>
          </a:xfrm>
          <a:prstGeom prst="line">
            <a:avLst/>
          </a:prstGeom>
          <a:ln w="19050">
            <a:solidFill>
              <a:srgbClr val="5F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n 21"/>
          <p:cNvSpPr/>
          <p:nvPr/>
        </p:nvSpPr>
        <p:spPr>
          <a:xfrm>
            <a:off x="3429000" y="4892040"/>
            <a:ext cx="822960" cy="640080"/>
          </a:xfrm>
          <a:prstGeom prst="can">
            <a:avLst/>
          </a:prstGeom>
          <a:solidFill>
            <a:srgbClr val="F2F3F5"/>
          </a:solidFill>
          <a:ln>
            <a:solidFill>
              <a:srgbClr val="5F6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50749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mumbai.db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3108960"/>
            <a:ext cx="2331720" cy="640079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212080" y="3749039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749039"/>
            <a:ext cx="19202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Nashik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gRPC server :5003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72200" y="4389120"/>
            <a:ext cx="0" cy="502920"/>
          </a:xfrm>
          <a:prstGeom prst="line">
            <a:avLst/>
          </a:prstGeom>
          <a:ln w="19050">
            <a:solidFill>
              <a:srgbClr val="5F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n 27"/>
          <p:cNvSpPr/>
          <p:nvPr/>
        </p:nvSpPr>
        <p:spPr>
          <a:xfrm>
            <a:off x="5760720" y="4892040"/>
            <a:ext cx="822960" cy="640080"/>
          </a:xfrm>
          <a:prstGeom prst="can">
            <a:avLst/>
          </a:prstGeom>
          <a:solidFill>
            <a:srgbClr val="F2F3F5"/>
          </a:solidFill>
          <a:ln>
            <a:solidFill>
              <a:srgbClr val="5F6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0749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nashik.db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2461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RPC (gRPC)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68880" y="4069080"/>
            <a:ext cx="411480" cy="0"/>
          </a:xfrm>
          <a:prstGeom prst="line">
            <a:avLst/>
          </a:prstGeom>
          <a:ln w="19050">
            <a:solidFill>
              <a:srgbClr val="E07A2F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00600" y="4069080"/>
            <a:ext cx="411480" cy="0"/>
          </a:xfrm>
          <a:prstGeom prst="line">
            <a:avLst/>
          </a:prstGeom>
          <a:ln w="19050">
            <a:solidFill>
              <a:srgbClr val="E07A2F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8880" y="3794760"/>
            <a:ext cx="411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E07A2F"/>
                </a:solidFill>
                <a:latin typeface="Calibri"/>
              </a:rPr>
              <a:t>P2P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794760"/>
            <a:ext cx="411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E07A2F"/>
                </a:solidFill>
                <a:latin typeface="Calibri"/>
              </a:rPr>
              <a:t>P2P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69280"/>
            <a:ext cx="6583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5F6673"/>
                </a:solidFill>
                <a:latin typeface="Calibri"/>
              </a:rPr>
              <a:t>Local SQLite databases - one per node, never shared.   WebRTC: browser tab ↔ browser tab (signalling over the WebSocket).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508760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1. Traffic Dashboard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Operator reports incidents and watches the network live.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313432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2. Coordination Middleware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Allocates incident ids, calls nodes by RPC, broadcasts incidents, detects failures and redirects requests.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118104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3. Regional Traffic Nodes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Independent processes for Pune, Mumbai and Nashik; each keeps its own incidents, units and traffic status.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3922776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4. P2P Communication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When local units are insufficient a node asks its nearest peer directly.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727448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5. Message + Stream Layer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Broker messages (INCIDENT_CREATED, NODE_FAILED ...) and a WebSocket stream to the dashboard.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532120"/>
            <a:ext cx="4389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6. Emergency Communication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WebRTC data channel and optional audio/video between control room and response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Design Issues &amp;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0945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Design Issue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How Our System Addresses It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Heterogeneity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All nodes communicate through one common gRPC interface and one message format.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Openness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A new regional node joins by implementing the same contract and registering its id and address.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Regions are independent processes with their own database; more regions can be added independently.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Failure Handling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Heartbeats detect a failed node; its requests are redirected to the nearest available node.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Nodes handle requests asynchronously; a unit is reserved with one atomic database update.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F6673"/>
                          </a:solidFill>
                          <a:latin typeface="Calibri"/>
                        </a:rPr>
                        <a:t>The operator never needs to know which node holds a record or which node lent a unit.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E07A2F"/>
                </a:solidFill>
                <a:latin typeface="Calibri"/>
              </a:rPr>
              <a:t>Middleware:  </a:t>
            </a:r>
            <a:r>
              <a:rPr sz="1400" b="0" i="0">
                <a:solidFill>
                  <a:srgbClr val="1F2A44"/>
                </a:solidFill>
                <a:latin typeface="Calibri"/>
              </a:rPr>
              <a:t>the layer between the network and the application that hides the differences between nodes. In this project the Coordination Service plays that role - it resolves node ids to addresses, makes the gRPC calls, runs the message broker and applies the failover rule, so the dashboard only calls one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Distributed Multimedia · Model of Computation · Virtualization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Distributed Multimedia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4747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Concept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F6673"/>
                </a:solidFill>
                <a:latin typeface="Calibri"/>
              </a:rPr>
              <a:t>Transmission of continuous media (audio / video / data) between distributed endpoints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1880"/>
            <a:ext cx="3474720" cy="18288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34747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The Emergency Communication panel opens a WebRTC peer connection between the Traffic Control Center and the Emergency Response Team (two browser tabs). A data channel carries messages directly browser-to-browser; audio/video can be added with one button (optional).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55448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Model of Distributed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240280"/>
            <a:ext cx="34747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Concept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F6673"/>
                </a:solidFill>
                <a:latin typeface="Calibri"/>
              </a:rPr>
              <a:t>Independent processes with no shared memory and no global clock, interacting only by exchanging messages.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3611880"/>
            <a:ext cx="3474720" cy="18288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3749039"/>
            <a:ext cx="34747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Each traffic node is a separate process with its own database. Nodes interact only through gRPC calls, broker messages and P2P calls - there is no shared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8" y="155448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Role of Virtualization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8" y="2240280"/>
            <a:ext cx="34747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Concept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F6673"/>
                </a:solidFill>
                <a:latin typeface="Calibri"/>
              </a:rPr>
              <a:t>Running each service in its own isolated container or VM so it can be deployed and restarted independently.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3611880"/>
            <a:ext cx="3474720" cy="18288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8" y="3749039"/>
            <a:ext cx="34747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Each regional node can be deployed as an independent Docker container (docker-compose with three node containers and one gateway). The same code also runs as plain Python processes with run.py.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Communication Fundamentals &amp; Remote Procedure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Fundamentals:  </a:t>
            </a:r>
            <a:r>
              <a:rPr sz="1400" b="0" i="0">
                <a:solidFill>
                  <a:srgbClr val="1F2A44"/>
                </a:solidFill>
                <a:latin typeface="Calibri"/>
              </a:rPr>
              <a:t>distributed nodes communicate by sending messages over the network. Communication can be synchronous (the caller waits - our gRPC calls) or asynchronous (fire-and-forget - our broker messages).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RPC lets the Coordination Service call a procedure on a remote traffic node as if it were local: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4436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07792"/>
            <a:ext cx="58978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Client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Coordination Service calls search_response_units("Pune", "High") - in code: RequestResponseSupport(INC-1004) - like a normal function.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85032"/>
            <a:ext cx="58978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Client stub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stub generated from traffic.proto packs the parameters (protobuf) and sends them to the Pune node at localhost:5001.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988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98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462272"/>
            <a:ext cx="58978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Remote procedure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server stub on the Pune node unpacks the call and runs the local procedure: search own units, then ask peers.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39512"/>
            <a:ext cx="58978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Response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result (incident, assigned units, trace) is returned to the caller - or a gRPC error such as UNAVAILABLE if the node is down.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926080"/>
            <a:ext cx="4023360" cy="31089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0175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RPC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3832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383280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Dashboard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POST /api/incidents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3840480"/>
            <a:ext cx="0" cy="201168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955279" y="404164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041648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Coordination Service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allocates INC-1004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92640" y="4498848"/>
            <a:ext cx="0" cy="201168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955279" y="4700016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700016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Pune Node  localhost:5001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records + searches units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92640" y="5157216"/>
            <a:ext cx="0" cy="201168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955279" y="5358384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5358384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Response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back to the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search_response_units( "Pune", "High" )   →   RPC   →   Pune 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Message-Oriented &amp; Stream-Oriented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Message-Oriented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035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Asynchronous, queue-based communication: the sender publishes a message and continues; receivers pick it up from the queue. Sender and receiver do not wait for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Used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53035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Incident notifications  (INCIDENT_CREATED, INCIDENT_UPDATED)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Response requests and replies  (RESPONSE_REQUESTED, RESPONSE_AVAILABLE)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Node failure events  (NODE_FAILED, NODE_RECOVERED)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530352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502920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In our project: a small publish/subscribe message broker written in Python (queue + worker + subscribers). Nodes publish, the coordinator and the dashboard subscribe. Broadcasts for a node that is offline are queued and delivered when it recovers.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Stream-Oriented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53035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A continuous, time-ordered flow of data where timing matters - receivers get updates as they happen instead of asking again and again.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Used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3035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Traffic density of each region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Node heartbeat / health status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 Live incident updates and the communication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617720"/>
            <a:ext cx="530352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02920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In our project: a WebSocket (/ws) from the gateway to the dashboard. Every broker message and a status snapshot every 2 seconds are pushed to the browser, so the page never needs a refresh.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Peer-to-Peer Messaging &amp; WebRTC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P2P Messaging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Nodes communicate directly with one another, without going through a central server or a shared database - so there is no single point of failure for that exchange.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Pune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localhost:5001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306324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0632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Mumbai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localhost:5002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246120"/>
            <a:ext cx="1280160" cy="0"/>
          </a:xfrm>
          <a:prstGeom prst="line">
            <a:avLst/>
          </a:prstGeom>
          <a:ln w="19050">
            <a:solidFill>
              <a:srgbClr val="E07A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560320" y="3520440"/>
            <a:ext cx="1280160" cy="0"/>
          </a:xfrm>
          <a:prstGeom prst="line">
            <a:avLst/>
          </a:prstGeom>
          <a:ln w="19050">
            <a:solidFill>
              <a:srgbClr val="E07A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28346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E07A2F"/>
                </a:solidFill>
                <a:latin typeface="Calibri"/>
              </a:rPr>
              <a:t>request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E07A2F"/>
                </a:solidFill>
                <a:latin typeface="Calibri"/>
              </a:rPr>
              <a:t>MT-03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53035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When Pune's own units are not enough, the Pune node itself calls the Mumbai node's SearchResponseUnits and ReserveUnit procedures - nearest peer first, next peer if that one is down or empty. The exchange is shown live in the dashboard log as  PUNE → MUMBAI  /  MUMBAI → PUNE.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WebRTC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An open browser standard for direct, low-latency peer connections carrying audio, video and data. A server is only needed to exchange the connection details (signalling).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6324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6324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Traffic Control Center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browser tab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06324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06324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Emergency Response Team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browser tab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3383280"/>
            <a:ext cx="1097280" cy="0"/>
          </a:xfrm>
          <a:prstGeom prst="line">
            <a:avLst/>
          </a:prstGeom>
          <a:ln w="19050">
            <a:solidFill>
              <a:srgbClr val="E07A2F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0" y="28346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E07A2F"/>
                </a:solidFill>
                <a:latin typeface="Calibri"/>
              </a:rPr>
              <a:t>data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033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E07A2F"/>
                </a:solidFill>
                <a:latin typeface="Calibri"/>
              </a:rPr>
              <a:t>+ audio / 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60520"/>
            <a:ext cx="53035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Two dashboard tabs connect with "Connect Peer": the offer, answer and ICE candidates travel over our WebSocket, then messages flow directly between the browsers through a data channel. "Start Audio/Video" adds camera and microphone (optional, needs a device).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Names, Identifiers &amp; Addresses  ·  Fault 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Names, Identifiers &amp; Addresses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03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A name or identifier says what an entity is; an address says where to find it. Good distributed design keeps the two separate.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Node ID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Node Name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Address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PUNE-TR-01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Pune Traffic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localhost:5001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MUM-TR-01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Mumbai Traffic Node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localhost:5002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NSK-TR-01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Nashik Traffic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localhost:5003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26280"/>
            <a:ext cx="53035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Every message and record refers to a node by its id, never by host:port; a registry resolves the id to an address (in Docker the same ids map to different addresses). Incidents get unique ids INC-1001, INC-1002 ... and units PT-01, MT-03, NT-02 carry their owner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Fault Tolerance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303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5F6673"/>
                </a:solidFill>
                <a:latin typeface="Calibri"/>
              </a:rPr>
              <a:t>The ability of the system to keep working - possibly at reduced capacity - when some of its components fail.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92608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3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4206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Pune OFFLINE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heartbeat fails → NODE_FAILED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3493008"/>
            <a:ext cx="0" cy="210312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0" y="370332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703320"/>
            <a:ext cx="4206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Request redirected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to the nearest online node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4270248"/>
            <a:ext cx="0" cy="210312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58000" y="448056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480560"/>
            <a:ext cx="4206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Mumbai responds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records the incident, borrows units from Nashik by P2P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03520"/>
            <a:ext cx="53035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C63B2F"/>
                </a:solidFill>
                <a:latin typeface="Calibri"/>
              </a:rPr>
              <a:t>Simulation note:  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"Fail Pune Node" makes the node refuse every RPC with gRPC status UNAVAILABLE, which is what a crashed node looks like to callers. Killing the process is detected the same way. "Recover" brings it back and it receives the broadcasts it missed.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Working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2646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Report accident in Pune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Accident · Pune · High from the dashboard form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Pune node receives incident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coordinator allocates INC-1004, RPC CreateIncident → stored in pune.db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56032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2374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Incident is broadcast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INCIDENT_CREATED → Mumbai and Nashik store a copy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0896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7238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Pune searches locally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High needs 2 units, Pune has only PT-02 free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5760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2102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Pune requests another node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P2P SearchResponseUnits to Mumbai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20624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6966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Mumbai responds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MT-03 available → reserved; status UNITS ASSIGNED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75488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1830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Dashboard updates live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table, units and log refresh over the WebSocket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303520"/>
            <a:ext cx="329184" cy="329184"/>
          </a:xfrm>
          <a:prstGeom prst="ellipse">
            <a:avLst/>
          </a:prstGeom>
          <a:solidFill>
            <a:srgbClr val="C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6694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Simulate Pune failure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"Fail Pune Node" → heartbeat fails → OFFLINE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852160"/>
            <a:ext cx="329184" cy="329184"/>
          </a:xfrm>
          <a:prstGeom prst="ellipse">
            <a:avLst/>
          </a:prstGeom>
          <a:solidFill>
            <a:srgbClr val="C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15584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Request continues   </a:t>
            </a:r>
            <a:r>
              <a:rPr sz="1100" b="0" i="0">
                <a:solidFill>
                  <a:srgbClr val="5F6673"/>
                </a:solidFill>
                <a:latin typeface="Calibri"/>
              </a:rPr>
              <a:t>new Pune incident redirected to Mumbai, units borrowed from Nashik</a:t>
            </a:r>
          </a:p>
        </p:txBody>
      </p:sp>
      <p:pic>
        <p:nvPicPr>
          <p:cNvPr id="33" name="Picture 32" descr="03_incident_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2743200" cy="2014869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217920" y="3523629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Steps 1-6: request trace</a:t>
            </a:r>
          </a:p>
        </p:txBody>
      </p:sp>
      <p:pic>
        <p:nvPicPr>
          <p:cNvPr id="35" name="Picture 34" descr="05c_failover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463040"/>
            <a:ext cx="2743200" cy="2240811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9098280" y="3749571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Steps 8-9: redirected after failure</a:t>
            </a:r>
          </a:p>
        </p:txBody>
      </p:sp>
      <p:pic>
        <p:nvPicPr>
          <p:cNvPr id="37" name="Picture 36" descr="05d_failover_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231" y="4114800"/>
            <a:ext cx="2686578" cy="219456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6217920" y="635508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Communication log during failover</a:t>
            </a:r>
          </a:p>
        </p:txBody>
      </p:sp>
      <p:pic>
        <p:nvPicPr>
          <p:cNvPr id="39" name="Picture 38" descr="05b_network_status_of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114800"/>
            <a:ext cx="2743200" cy="1722474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098280" y="588299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Network status: Pune OFFLINE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Frontend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HTML + CSS + JavaScript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Single dashboard page, network diagram, live tables and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55448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6420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Backend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Python + FastAPI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REST API, coordination middleware, message broker,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8" y="155448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8" y="166420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RPC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Python gRPC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traffic.proto contract; each node is a gRPC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Real-Time Stream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WebSocket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Pushes events and status snapshots to the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10896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21868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Messaging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Lightweight Python message layer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Publish/subscribe broker (RabbitMQ not used)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310896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8" y="321868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P2P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Python node-to-node gRPC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Direct SearchResponseUnits / ReserveUnit between nodes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WebRTC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Browser WebRTC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Data channel + optional audio/video between two tabs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466344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477316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Database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SQLite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One database file per node: pune.db, mumbai.db, nashik.db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8" y="4663440"/>
            <a:ext cx="352044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8" y="4773168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E07A2F"/>
                </a:solidFill>
                <a:latin typeface="Calibri"/>
              </a:rPr>
              <a:t>Virtualization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Docker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One container per node + gateway (docker-compose)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All of the above is implemented and runs on one laptop:  pip install -r requirements.txt  →  python run.py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FA-2 Extension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27632"/>
            <a:ext cx="2880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Mutual Exclusion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Avoid conflicting allocation of the same response unit by two nodes.</a:t>
            </a:r>
          </a:p>
        </p:txBody>
      </p:sp>
      <p:sp>
        <p:nvSpPr>
          <p:cNvPr id="9" name="Oval 8"/>
          <p:cNvSpPr/>
          <p:nvPr/>
        </p:nvSpPr>
        <p:spPr>
          <a:xfrm>
            <a:off x="4480559" y="1664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64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1627632"/>
            <a:ext cx="2880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Clock Synchronization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Order events coming from different traffic nodes consistently.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8" y="1664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1664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8" y="1627632"/>
            <a:ext cx="2880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Election Algorithms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Select the coordinator dynamically instead of a fixed gateway.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186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82112"/>
            <a:ext cx="2880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Replication &amp; Recovery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Keep a region's data available while its node is down.</a:t>
            </a:r>
          </a:p>
        </p:txBody>
      </p:sp>
      <p:sp>
        <p:nvSpPr>
          <p:cNvPr id="18" name="Oval 17"/>
          <p:cNvSpPr/>
          <p:nvPr/>
        </p:nvSpPr>
        <p:spPr>
          <a:xfrm>
            <a:off x="4480559" y="32186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2186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3182112"/>
            <a:ext cx="2880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Distributed Consistency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Keep incident copies synchronized across nodes.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1">
                <a:solidFill>
                  <a:srgbClr val="5F6673"/>
                </a:solidFill>
                <a:latin typeface="Calibri"/>
              </a:rPr>
              <a:t>These are planned extensions - not part of the FA-1 implementation.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